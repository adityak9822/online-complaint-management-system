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530567" y="1853276"/>
            <a:ext cx="60828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25" spcFirstLastPara="1" rIns="76025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9"/>
              <a:buFont typeface="Georgia"/>
              <a:buNone/>
            </a:pPr>
            <a:r>
              <a:rPr b="1" i="0" lang="en-US" sz="3658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Online Complaint</a:t>
            </a:r>
            <a:endParaRPr b="0" i="0" sz="36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530567" y="2537586"/>
            <a:ext cx="60828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00" lIns="76025" spcFirstLastPara="1" rIns="76025" wrap="square" tIns="3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9"/>
              <a:buFont typeface="Georgia"/>
              <a:buNone/>
            </a:pPr>
            <a:r>
              <a:rPr b="1" i="0" lang="en-US" sz="3658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Management System</a:t>
            </a:r>
            <a:endParaRPr b="0" i="0" sz="36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50" y="3393320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C++ Console Application  ·  Semester II Case Study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431445" y="3259912"/>
            <a:ext cx="2281200" cy="30300"/>
          </a:xfrm>
          <a:prstGeom prst="rect">
            <a:avLst/>
          </a:prstGeom>
          <a:solidFill>
            <a:srgbClr val="F3C6D9"/>
          </a:solidFill>
          <a:ln cap="flat" cmpd="sng" w="10550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25" lIns="76025" spcFirstLastPara="1" rIns="76025" wrap="square" tIns="7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By  </a:t>
            </a:r>
            <a:r>
              <a:rPr lang="en-US" sz="1300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Aditya Kadam</a:t>
            </a:r>
            <a:r>
              <a:rPr b="0" i="0" lang="en-US" sz="13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  ·  Roll No. 150096725122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979" y="4367898"/>
            <a:ext cx="516000" cy="516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3762" y="364709"/>
            <a:ext cx="4516450" cy="14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20040" y="73152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Index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28016"/>
            <a:ext cx="214884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411480" y="119786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11480" y="11978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118872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411480" y="186537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411480" y="206654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20665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3000" y="205740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My</a:t>
            </a: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Solution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411480" y="273405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411480" y="293522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1480" y="29352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292608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Working / Method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4"/>
          <p:cNvCxnSpPr/>
          <p:nvPr/>
        </p:nvCxnSpPr>
        <p:spPr>
          <a:xfrm>
            <a:off x="411480" y="3602736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411480" y="3803904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11480" y="38039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43000" y="3794760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20051" y="109725"/>
            <a:ext cx="708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  ·  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320040" y="1170432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20040" y="1170432"/>
            <a:ext cx="4023360" cy="402336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117043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664208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Institutions lack a structured way to track complaints.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Manual records lead to lost cases, no status visibility, and missed follow-ups.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unique identification or lifecycle management for each issue.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800600" y="1170432"/>
            <a:ext cx="402336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00600" y="1170432"/>
            <a:ext cx="4023360" cy="402336"/>
          </a:xfrm>
          <a:prstGeom prst="rect">
            <a:avLst/>
          </a:prstGeom>
          <a:solidFill>
            <a:srgbClr val="C2185B"/>
          </a:solidFill>
          <a:ln cap="flat" cmpd="sng" w="12700">
            <a:solidFill>
              <a:srgbClr val="C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937760" y="117043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937760" y="1664208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Unique ID per complaint for easy tracking.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Defined status lifecycle: Pending → Resolved → Closed.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Safe input handling — no crashes on bad input.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20050" y="109725"/>
            <a:ext cx="708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  · 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My</a:t>
            </a: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320040" y="117043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20040" y="1170432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521208" y="1719072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" y="177393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1188720" y="126187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Register Complaint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88720" y="1719072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Captures name, category &amp; description. Assigns unique ID from 1001+.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800600" y="1170432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800600" y="1170432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001768" y="1719072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6632" y="177393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5669280" y="126187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View Complaints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669280" y="1719072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 all records or look up any single complaint by its ID.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20040" y="2834640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20040" y="2834640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21208" y="3383280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" y="3438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1188720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Update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188720" y="3383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Move complaints through Pending → In Progress → Resolved → Closed.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800600" y="2834640"/>
            <a:ext cx="402336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800600" y="2834640"/>
            <a:ext cx="109728" cy="173736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001768" y="3383280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6632" y="34381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5669280" y="29260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669280" y="3383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readInt() prevents crashes. Empty-field check blocks incomplete records.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20051" y="109725"/>
            <a:ext cx="708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  ·  Working  /  Method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320040" y="1371600"/>
            <a:ext cx="1353312" cy="14630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22376" y="1481328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722376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56616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56616" y="234428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Name, category,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1709928" y="210312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1783080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039112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441448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2441448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075688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075688" y="234428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readInt()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empty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3429000" y="210312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3502152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758184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160520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16052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794760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794760" y="234428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Parallel arrays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 assigned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5148072" y="210312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5221224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77256" y="1371600"/>
            <a:ext cx="1353312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879592" y="1481328"/>
            <a:ext cx="548640" cy="548640"/>
          </a:xfrm>
          <a:prstGeom prst="ellipse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879592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513832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513832" y="234428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findIndex()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 O(n)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6867144" y="210312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7"/>
          <p:cNvSpPr/>
          <p:nvPr/>
        </p:nvSpPr>
        <p:spPr>
          <a:xfrm>
            <a:off x="6940296" y="1938528"/>
            <a:ext cx="274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196328" y="1371600"/>
            <a:ext cx="1353312" cy="14630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598664" y="1481328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598664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7232904" y="208483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232904" y="234428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Status machine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Pending→Closed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0040" y="3246120"/>
            <a:ext cx="8503920" cy="640080"/>
          </a:xfrm>
          <a:prstGeom prst="rect">
            <a:avLst/>
          </a:prstGeom>
          <a:solidFill>
            <a:srgbClr val="F3E5EC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Tech Stack:  </a:t>
            </a: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C++   ·   iostream, string   ·   Static arrays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20040" y="4005072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Key Algorithms:  </a:t>
            </a: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Linear Search  ·  Input Validation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20051" y="109725"/>
            <a:ext cx="708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  ·  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64592"/>
            <a:ext cx="1920240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320040" y="1170432"/>
            <a:ext cx="2743200" cy="370332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320040" y="137160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20040" y="26517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core 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fully working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8"/>
          <p:cNvCxnSpPr/>
          <p:nvPr/>
        </p:nvCxnSpPr>
        <p:spPr>
          <a:xfrm>
            <a:off x="640080" y="3520440"/>
            <a:ext cx="2103120" cy="0"/>
          </a:xfrm>
          <a:prstGeom prst="straightConnector1">
            <a:avLst/>
          </a:prstGeom>
          <a:noFill/>
          <a:ln cap="flat" cmpd="sng" w="12700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8"/>
          <p:cNvSpPr/>
          <p:nvPr/>
        </p:nvSpPr>
        <p:spPr>
          <a:xfrm>
            <a:off x="320040" y="36576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Unlimited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IDs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337560" y="11704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337560" y="11704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547872" y="12070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Validated: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547872" y="15179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4 operations tested — register, view, lookup, update work correctly.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337560" y="20848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337560" y="20848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547872" y="21214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Robust: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547872" y="2391418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readInt() recovers from bad input. Empty fields and Closed locks prevent corrupt records.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337560" y="2999232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337560" y="2999232"/>
            <a:ext cx="91440" cy="777240"/>
          </a:xfrm>
          <a:prstGeom prst="rect">
            <a:avLst/>
          </a:prstGeom>
          <a:solidFill>
            <a:srgbClr val="8B1A4A"/>
          </a:solidFill>
          <a:ln cap="flat" cmpd="sng" w="12700">
            <a:solidFill>
              <a:srgbClr val="8B1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547872" y="30358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A4A"/>
                </a:solidFill>
                <a:latin typeface="Calibri"/>
                <a:ea typeface="Calibri"/>
                <a:cs typeface="Calibri"/>
                <a:sym typeface="Calibri"/>
              </a:rPr>
              <a:t>Scalable: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547872" y="33467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Parallel arrays can be replaced with structs/classes as complexity grows.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337560" y="3913632"/>
            <a:ext cx="5394960" cy="777240"/>
          </a:xfrm>
          <a:prstGeom prst="rect">
            <a:avLst/>
          </a:prstGeom>
          <a:solidFill>
            <a:srgbClr val="F3E5EC"/>
          </a:solidFill>
          <a:ln cap="flat" cmpd="sng" w="12700">
            <a:solidFill>
              <a:srgbClr val="E8D5DE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337560" y="3913632"/>
            <a:ext cx="91440" cy="777240"/>
          </a:xfrm>
          <a:prstGeom prst="rect">
            <a:avLst/>
          </a:prstGeom>
          <a:solidFill>
            <a:srgbClr val="C2185B"/>
          </a:solidFill>
          <a:ln cap="flat" cmpd="sng" w="12700">
            <a:solidFill>
              <a:srgbClr val="C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547872" y="395020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8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2185B"/>
                </a:solidFill>
                <a:latin typeface="Calibri"/>
                <a:ea typeface="Calibri"/>
                <a:cs typeface="Calibri"/>
                <a:sym typeface="Calibri"/>
              </a:rPr>
              <a:t>Next Steps: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547872" y="42611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File persistence (fstream), struct refactor, delete/archive operation.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4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787" y="781759"/>
            <a:ext cx="4516450" cy="14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1313250" y="2428750"/>
            <a:ext cx="65175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725" lIns="81450" spcFirstLastPara="1" rIns="81450" wrap="square" tIns="40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67"/>
              <a:buFont typeface="Georgia"/>
              <a:buNone/>
            </a:pPr>
            <a:r>
              <a:rPr b="1" i="0" lang="en-US" sz="5167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1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349938" y="3447088"/>
            <a:ext cx="2444100" cy="32700"/>
          </a:xfrm>
          <a:prstGeom prst="rect">
            <a:avLst/>
          </a:prstGeom>
          <a:solidFill>
            <a:srgbClr val="F3C6D9"/>
          </a:solidFill>
          <a:ln cap="flat" cmpd="sng" w="11325">
            <a:solidFill>
              <a:srgbClr val="F3C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50" lIns="81450" spcFirstLastPara="1" rIns="81450" wrap="square" tIns="8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371600" y="3923745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C6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3C6D9"/>
                </a:solidFill>
                <a:latin typeface="Calibri"/>
                <a:ea typeface="Calibri"/>
                <a:cs typeface="Calibri"/>
                <a:sym typeface="Calibri"/>
              </a:rPr>
              <a:t>Online Complaint Management System  ·  C++  ·  Semester 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15" y="4526280"/>
            <a:ext cx="365700" cy="365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